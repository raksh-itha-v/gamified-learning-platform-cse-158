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69" r:id="rId4"/>
    <p:sldId id="274" r:id="rId5"/>
    <p:sldId id="275" r:id="rId6"/>
    <p:sldId id="273" r:id="rId7"/>
    <p:sldId id="276" r:id="rId8"/>
    <p:sldId id="268" r:id="rId9"/>
    <p:sldId id="270"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Raksh-itha-v/raksh"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searchgate.net/publication/388771775_Literature_Analysis_on_the_Impact_of_Gamified_Education_on_Engagement_Motivation_and_Learning_Outcomes_Among_Preschool_Children_in_Rural_Communities_in_China?utm_source=chatgpt.com" TargetMode="External"/><Relationship Id="rId7" Type="http://schemas.openxmlformats.org/officeDocument/2006/relationships/hyperlink" Target="https://link.springer.com/article/10.1007/s11159-024-10111-8?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multiarticlesjournal.com/uploads/articles/IJCRM20254472.pdf" TargetMode="External"/><Relationship Id="rId5" Type="http://schemas.openxmlformats.org/officeDocument/2006/relationships/hyperlink" Target="https://www.tandfonline.com/doi/full/10.1080/10494820.2024.2417719?utm_source=chatgpt.com" TargetMode="External"/><Relationship Id="rId4" Type="http://schemas.openxmlformats.org/officeDocument/2006/relationships/hyperlink" Target="https://www.researchgate.net/publication/398931744_Gamification_in_Online_Learning_A_Systematic_Review_of_Engagement_and_Learning_Outcomes_in_Digital_Education?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dirty="0">
                <a:solidFill>
                  <a:schemeClr val="tx1"/>
                </a:solidFill>
                <a:latin typeface="Cambria" panose="02040503050406030204" pitchFamily="18" charset="0"/>
                <a:ea typeface="Cambria" panose="02040503050406030204" pitchFamily="18" charset="0"/>
              </a:rPr>
              <a:t>Gamified Learning Platform for Rural Education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CSE_158</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7288962" y="2513340"/>
            <a:ext cx="5514300" cy="2020560"/>
          </a:xfrm>
          <a:prstGeom prst="rect">
            <a:avLst/>
          </a:prstGeom>
          <a:noFill/>
          <a:ln>
            <a:noFill/>
          </a:ln>
        </p:spPr>
        <p:txBody>
          <a:bodyPr spcFirstLastPara="1" wrap="square" lIns="91425" tIns="45700" rIns="91425" bIns="45700" anchor="t" anchorCtr="0">
            <a:normAutofit/>
          </a:bodyPr>
          <a:lstStyle/>
          <a:p>
            <a:pPr marL="0" marR="0" lvl="0" indent="0" algn="l" rtl="0">
              <a:spcBef>
                <a:spcPts val="400"/>
              </a:spcBef>
              <a:spcAft>
                <a:spcPts val="0"/>
              </a:spcAft>
              <a:buClr>
                <a:srgbClr val="17365D"/>
              </a:buClr>
              <a:buSzPts val="2000"/>
              <a:buFont typeface="Arial"/>
              <a:buNone/>
            </a:pPr>
            <a:r>
              <a:rPr lang="en-US" sz="2000" b="1" dirty="0">
                <a:solidFill>
                  <a:srgbClr val="17365D"/>
                </a:solidFill>
                <a:latin typeface="Cambria" panose="02040503050406030204" pitchFamily="18" charset="0"/>
                <a:ea typeface="Cambria" panose="02040503050406030204" pitchFamily="18" charset="0"/>
                <a:cs typeface="Verdana"/>
                <a:sym typeface="Verdana"/>
              </a:rPr>
              <a:t>            </a:t>
            </a:r>
            <a:r>
              <a:rPr lang="en-US" sz="18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400"/>
              </a:spcBef>
              <a:spcAft>
                <a:spcPts val="0"/>
              </a:spcAft>
              <a:buClr>
                <a:srgbClr val="17365D"/>
              </a:buClr>
              <a:buSzPts val="2000"/>
              <a:buFont typeface="Arial"/>
              <a:buNone/>
            </a:pPr>
            <a:r>
              <a:rPr lang="en-US" sz="1800" b="1" dirty="0">
                <a:solidFill>
                  <a:srgbClr val="17365D"/>
                </a:solidFill>
                <a:latin typeface="Cambria" panose="02040503050406030204" pitchFamily="18" charset="0"/>
                <a:ea typeface="Cambria" panose="02040503050406030204" pitchFamily="18" charset="0"/>
                <a:cs typeface="Verdana"/>
                <a:sym typeface="Verdana"/>
              </a:rPr>
              <a:t>Dr. Vijaya Kumar A</a:t>
            </a:r>
          </a:p>
          <a:p>
            <a:pPr marL="0" marR="0" lvl="0" indent="0" algn="l" rtl="0">
              <a:spcBef>
                <a:spcPts val="400"/>
              </a:spcBef>
              <a:spcAft>
                <a:spcPts val="0"/>
              </a:spcAft>
              <a:buClr>
                <a:srgbClr val="17365D"/>
              </a:buClr>
              <a:buSzPts val="20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a:t>
            </a:r>
            <a:r>
              <a:rPr lang="en-US" sz="1800" b="1" dirty="0">
                <a:solidFill>
                  <a:srgbClr val="17365D"/>
                </a:solidFill>
                <a:latin typeface="Cambria" panose="02040503050406030204" pitchFamily="18" charset="0"/>
                <a:ea typeface="Cambria" panose="02040503050406030204" pitchFamily="18" charset="0"/>
                <a:cs typeface="Verdana"/>
                <a:sym typeface="Verdana"/>
              </a:rPr>
              <a:t>omputer Science and Engineering</a:t>
            </a:r>
          </a:p>
          <a:p>
            <a:pPr marL="0" marR="0" lvl="0" indent="0" algn="l" rtl="0">
              <a:spcBef>
                <a:spcPts val="400"/>
              </a:spcBef>
              <a:spcAft>
                <a:spcPts val="0"/>
              </a:spcAft>
              <a:buClr>
                <a:srgbClr val="17365D"/>
              </a:buClr>
              <a:buSzPts val="20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047050257"/>
              </p:ext>
            </p:extLst>
          </p:nvPr>
        </p:nvGraphicFramePr>
        <p:xfrm>
          <a:off x="553347" y="2721840"/>
          <a:ext cx="6369313" cy="2743260"/>
        </p:xfrm>
        <a:graphic>
          <a:graphicData uri="http://schemas.openxmlformats.org/drawingml/2006/table">
            <a:tbl>
              <a:tblPr firstRow="1" bandRow="1">
                <a:noFill/>
                <a:tableStyleId>{57690726-49DA-4552-BDEB-330DD8EA8BD9}</a:tableStyleId>
              </a:tblPr>
              <a:tblGrid>
                <a:gridCol w="3035638">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Font typeface="+mj-lt"/>
                        <a:buNone/>
                      </a:pPr>
                      <a:r>
                        <a:rPr lang="en-IN" sz="1800" b="0" u="none" strike="noStrike" cap="none" dirty="0">
                          <a:solidFill>
                            <a:schemeClr val="tx1"/>
                          </a:solidFill>
                        </a:rPr>
                        <a:t>20221CSE0335                              </a:t>
                      </a:r>
                    </a:p>
                    <a:p>
                      <a:pPr marL="0" marR="0" lvl="0" indent="0" algn="ctr" rtl="0">
                        <a:spcBef>
                          <a:spcPts val="0"/>
                        </a:spcBef>
                        <a:spcAft>
                          <a:spcPts val="0"/>
                        </a:spcAft>
                        <a:buFont typeface="+mj-lt"/>
                        <a:buNone/>
                      </a:pPr>
                      <a:r>
                        <a:rPr lang="en-IN" sz="1800" b="0" u="none" strike="noStrike" cap="none" dirty="0">
                          <a:solidFill>
                            <a:schemeClr val="tx1"/>
                          </a:solidFill>
                        </a:rPr>
                        <a:t>20221CSE0362</a:t>
                      </a:r>
                    </a:p>
                    <a:p>
                      <a:pPr marL="0" marR="0" lvl="0" indent="0" algn="ctr" rtl="0">
                        <a:spcBef>
                          <a:spcPts val="0"/>
                        </a:spcBef>
                        <a:spcAft>
                          <a:spcPts val="0"/>
                        </a:spcAft>
                        <a:buFont typeface="+mj-lt"/>
                        <a:buNone/>
                      </a:pPr>
                      <a:r>
                        <a:rPr lang="en-IN" sz="1800" b="0" u="none" strike="noStrike" cap="none" dirty="0">
                          <a:solidFill>
                            <a:schemeClr val="tx1"/>
                          </a:solidFill>
                        </a:rPr>
                        <a:t>20221CSE0097</a:t>
                      </a:r>
                      <a:endParaRPr sz="1800" b="0" u="none" strike="noStrike" cap="none" dirty="0">
                        <a:solidFill>
                          <a:schemeClr val="tx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Rakshitha V </a:t>
                      </a:r>
                    </a:p>
                    <a:p>
                      <a:pPr marL="0" marR="0" lvl="0" indent="0" algn="ctr" rtl="0">
                        <a:spcBef>
                          <a:spcPts val="0"/>
                        </a:spcBef>
                        <a:spcAft>
                          <a:spcPts val="0"/>
                        </a:spcAft>
                        <a:buNone/>
                      </a:pPr>
                      <a:r>
                        <a:rPr lang="en-IN" sz="1800" u="none" strike="noStrike" cap="none" dirty="0"/>
                        <a:t>Varshini P D</a:t>
                      </a:r>
                    </a:p>
                    <a:p>
                      <a:pPr marL="0" marR="0" lvl="0" indent="0" algn="ctr" rtl="0">
                        <a:spcBef>
                          <a:spcPts val="0"/>
                        </a:spcBef>
                        <a:spcAft>
                          <a:spcPts val="0"/>
                        </a:spcAft>
                        <a:buNone/>
                      </a:pPr>
                      <a:r>
                        <a:rPr lang="en-IN" sz="1800" u="none" strike="noStrike" cap="none" dirty="0"/>
                        <a:t>Lohith K B</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solidFill>
                          <a:schemeClr val="tx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dirty="0">
                <a:solidFill>
                  <a:srgbClr val="17365D"/>
                </a:solidFill>
                <a:latin typeface="Cambria" panose="02040503050406030204" pitchFamily="18" charset="0"/>
                <a:ea typeface="Cambria" panose="02040503050406030204" pitchFamily="18" charset="0"/>
                <a:sym typeface="Verdana"/>
              </a:rPr>
              <a:t>SIH25048</a:t>
            </a:r>
            <a:endParaRPr sz="20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err="1">
                <a:solidFill>
                  <a:schemeClr val="tx1"/>
                </a:solidFill>
                <a:latin typeface="Cambria" panose="02040503050406030204" pitchFamily="18" charset="0"/>
                <a:ea typeface="Cambria" panose="02040503050406030204" pitchFamily="18" charset="0"/>
                <a:cs typeface="Verdana"/>
                <a:sym typeface="Verdana"/>
              </a:rPr>
              <a:t>Dr.Asif</a:t>
            </a:r>
            <a:r>
              <a:rPr lang="en-US" sz="1800" b="1" dirty="0">
                <a:solidFill>
                  <a:schemeClr val="tx1"/>
                </a:solidFill>
                <a:latin typeface="Cambria" panose="02040503050406030204" pitchFamily="18" charset="0"/>
                <a:ea typeface="Cambria" panose="02040503050406030204" pitchFamily="18" charset="0"/>
                <a:cs typeface="Verdana"/>
                <a:sym typeface="Verdana"/>
              </a:rPr>
              <a:t> Mohammed, </a:t>
            </a:r>
            <a:r>
              <a:rPr lang="en-US" sz="1800" b="1" dirty="0" err="1">
                <a:solidFill>
                  <a:schemeClr val="tx1"/>
                </a:solidFill>
                <a:latin typeface="Cambria" panose="02040503050406030204" pitchFamily="18" charset="0"/>
                <a:ea typeface="Cambria" panose="02040503050406030204" pitchFamily="18" charset="0"/>
                <a:cs typeface="Verdana"/>
                <a:sym typeface="Verdana"/>
              </a:rPr>
              <a:t>Dr.Blessed</a:t>
            </a:r>
            <a:r>
              <a:rPr lang="en-US" sz="1800" b="1" dirty="0">
                <a:solidFill>
                  <a:schemeClr val="tx1"/>
                </a:solidFill>
                <a:latin typeface="Cambria" panose="02040503050406030204" pitchFamily="18" charset="0"/>
                <a:ea typeface="Cambria" panose="02040503050406030204" pitchFamily="18" charset="0"/>
                <a:cs typeface="Verdana"/>
                <a:sym typeface="Verdana"/>
              </a:rPr>
              <a:t>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Dr.Jayavadivel</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Ravi ,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V</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3200" dirty="0">
                <a:latin typeface="Cambria" panose="02040503050406030204" pitchFamily="18" charset="0"/>
                <a:ea typeface="Cambria" panose="02040503050406030204" pitchFamily="18" charset="0"/>
              </a:rPr>
              <a:t>Contents:</a:t>
            </a:r>
            <a:endParaRPr sz="32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62500" lnSpcReduction="20000"/>
          </a:bodyPr>
          <a:lstStyle/>
          <a:p>
            <a:pPr marL="49530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Problem Statement</a:t>
            </a:r>
          </a:p>
          <a:p>
            <a:pPr marL="49530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Objectives</a:t>
            </a:r>
          </a:p>
          <a:p>
            <a:pPr marL="49530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Analysis of Problem Statement</a:t>
            </a:r>
          </a:p>
          <a:p>
            <a:pPr marL="495300" lvl="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Innovation or Novel Contributions</a:t>
            </a:r>
          </a:p>
          <a:p>
            <a:pPr marL="495300" indent="-342900" algn="just">
              <a:lnSpc>
                <a:spcPct val="200000"/>
              </a:lnSpc>
              <a:spcBef>
                <a:spcPts val="0"/>
              </a:spcBef>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Git - 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600" dirty="0">
                <a:latin typeface="Arial" panose="020B0604020202020204" pitchFamily="34" charset="0"/>
                <a:ea typeface="Cambria" panose="02040503050406030204" pitchFamily="18" charset="0"/>
                <a:cs typeface="Arial" panose="020B0604020202020204" pitchFamily="34"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Arial" panose="020B0604020202020204" pitchFamily="34" charset="0"/>
              <a:ea typeface="Cambria" panose="02040503050406030204" pitchFamily="18" charset="0"/>
              <a:cs typeface="Arial" panose="020B0604020202020204" pitchFamily="3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3200" dirty="0">
                <a:latin typeface="Cambria" panose="02040503050406030204" pitchFamily="18" charset="0"/>
                <a:ea typeface="Cambria" panose="02040503050406030204" pitchFamily="18" charset="0"/>
              </a:rPr>
              <a:t>Problem Statement : </a:t>
            </a:r>
            <a:endParaRPr sz="32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380181" y="1133168"/>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a:lnSpc>
                <a:spcPct val="200000"/>
              </a:lnSpc>
              <a:spcBef>
                <a:spcPts val="0"/>
              </a:spcBef>
              <a:buNone/>
            </a:pPr>
            <a:r>
              <a:rPr lang="en-US" dirty="0">
                <a:latin typeface="+mj-lt"/>
                <a:ea typeface="Verdana" panose="020B0604030504040204" pitchFamily="34" charset="0"/>
              </a:rPr>
              <a:t>   </a:t>
            </a:r>
            <a:r>
              <a:rPr lang="en-US" dirty="0">
                <a:latin typeface="Arial" panose="020B0604020202020204" pitchFamily="34" charset="0"/>
                <a:cs typeface="Arial" panose="020B0604020202020204" pitchFamily="34" charset="0"/>
              </a:rPr>
              <a:t>Rural students often lack access to quality education due to limited teachers, resources, and engaging learning tools. Traditional teaching methods fail to keep students interested, leading to poor learning outcomes and high dropout rates. Existing digital learning platforms are mostly designed for urban users and are not suitable for rural conditions. There is a need for an easy-to-use and engaging learning system for rural students. A gamified learning platform can improve motivation, participation, and knowledge retention. </a:t>
            </a:r>
            <a:r>
              <a:rPr lang="en-US" b="1" dirty="0">
                <a:latin typeface="Arial" panose="020B0604020202020204" pitchFamily="34" charset="0"/>
                <a:cs typeface="Arial" panose="020B0604020202020204" pitchFamily="34" charset="0"/>
              </a:rPr>
              <a:t>This project aims to provide an interactive and accessible digital education solution for rural learners.</a:t>
            </a:r>
            <a:endParaRPr lang="en-US" b="1"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88C5-AF0E-9A99-BF03-812AD7416453}"/>
              </a:ext>
            </a:extLst>
          </p:cNvPr>
          <p:cNvSpPr>
            <a:spLocks noGrp="1"/>
          </p:cNvSpPr>
          <p:nvPr>
            <p:ph type="title"/>
          </p:nvPr>
        </p:nvSpPr>
        <p:spPr/>
        <p:txBody>
          <a:bodyPr/>
          <a:lstStyle/>
          <a:p>
            <a:r>
              <a:rPr lang="en-US" sz="3200" dirty="0">
                <a:latin typeface="Cambria" panose="02040503050406030204" pitchFamily="18" charset="0"/>
                <a:ea typeface="Cambria" panose="02040503050406030204" pitchFamily="18" charset="0"/>
              </a:rPr>
              <a:t>Objectives:</a:t>
            </a:r>
            <a:endParaRPr lang="en-IN" sz="3200"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69A2D672-7C89-3D9F-C20B-4CF771C796F1}"/>
              </a:ext>
            </a:extLst>
          </p:cNvPr>
          <p:cNvSpPr>
            <a:spLocks noGrp="1" noChangeArrowheads="1"/>
          </p:cNvSpPr>
          <p:nvPr>
            <p:ph type="body" idx="1"/>
          </p:nvPr>
        </p:nvSpPr>
        <p:spPr bwMode="auto">
          <a:xfrm>
            <a:off x="812799" y="1266715"/>
            <a:ext cx="10985911" cy="450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FontTx/>
              <a:buChar char="•"/>
            </a:pPr>
            <a:r>
              <a:rPr kumimoji="0" lang="en-US" altLang="en-US" sz="2300" b="1" i="0" u="none" strike="noStrike" cap="none" normalizeH="0" baseline="0" dirty="0">
                <a:ln>
                  <a:noFill/>
                </a:ln>
                <a:solidFill>
                  <a:schemeClr val="tx1"/>
                </a:solidFill>
                <a:effectLst/>
                <a:latin typeface="Arial" panose="020B0604020202020204" pitchFamily="34" charset="0"/>
              </a:rPr>
              <a:t> </a:t>
            </a:r>
            <a:r>
              <a:rPr lang="en-US" sz="2200" dirty="0">
                <a:latin typeface="Arial" panose="020B0604020202020204" pitchFamily="34" charset="0"/>
                <a:cs typeface="Arial" panose="020B0604020202020204" pitchFamily="34" charset="0"/>
              </a:rPr>
              <a:t>To develop a user-friendly digital learning platform for rural students.</a:t>
            </a:r>
          </a:p>
          <a:p>
            <a:pPr marL="0" lvl="0" indent="0" algn="just" eaLnBrk="0" fontAlgn="base" hangingPunct="0">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To make learning engaging through gamification elements like points, badges,        and levels.</a:t>
            </a:r>
          </a:p>
          <a:p>
            <a:pPr marL="0" lvl="0" indent="0" algn="just" eaLnBrk="0" fontAlgn="base" hangingPunct="0">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To improve student motivation and participation in the learning process.</a:t>
            </a:r>
          </a:p>
          <a:p>
            <a:pPr marL="0" lvl="0" indent="0" algn="just" eaLnBrk="0" fontAlgn="base" hangingPunct="0">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To provide easy access to quality educational content in rural areas.</a:t>
            </a:r>
          </a:p>
          <a:p>
            <a:pPr marL="0" lvl="0" indent="0" algn="just" eaLnBrk="0" fontAlgn="base" hangingPunct="0">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To track student performance and learning progress digitally.</a:t>
            </a:r>
          </a:p>
          <a:p>
            <a:pPr marL="0" lvl="0" indent="0" algn="just" eaLnBrk="0" fontAlgn="base" hangingPunct="0">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To enhance overall learning outcomes and reduce dropout rates among</a:t>
            </a:r>
          </a:p>
          <a:p>
            <a:pPr marL="0" lvl="0" indent="0" algn="just" eaLnBrk="0" fontAlgn="base" hangingPunct="0">
              <a:spcBef>
                <a:spcPct val="0"/>
              </a:spcBef>
              <a:spcAft>
                <a:spcPct val="0"/>
              </a:spcAft>
              <a:buClrTx/>
              <a:buSzTx/>
              <a:buNone/>
            </a:pPr>
            <a:r>
              <a:rPr lang="en-US" sz="2200" dirty="0">
                <a:latin typeface="Arial" panose="020B0604020202020204" pitchFamily="34" charset="0"/>
                <a:cs typeface="Arial" panose="020B0604020202020204" pitchFamily="34" charset="0"/>
              </a:rPr>
              <a:t>  rural students.</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8073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1DD0-925F-B53C-574A-DDC34BA307DD}"/>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Background and Related Work for Title Selection</a:t>
            </a:r>
            <a:r>
              <a:rPr lang="en-US" dirty="0"/>
              <a:t>:</a:t>
            </a:r>
            <a:endParaRPr lang="en-IN" dirty="0"/>
          </a:p>
        </p:txBody>
      </p:sp>
      <p:sp>
        <p:nvSpPr>
          <p:cNvPr id="4" name="Rectangle 1">
            <a:extLst>
              <a:ext uri="{FF2B5EF4-FFF2-40B4-BE49-F238E27FC236}">
                <a16:creationId xmlns:a16="http://schemas.microsoft.com/office/drawing/2014/main" id="{AEDB896B-D213-A11C-2AE9-B6EE84DAA74C}"/>
              </a:ext>
            </a:extLst>
          </p:cNvPr>
          <p:cNvSpPr>
            <a:spLocks noGrp="1" noChangeArrowheads="1"/>
          </p:cNvSpPr>
          <p:nvPr>
            <p:ph type="body" idx="1"/>
          </p:nvPr>
        </p:nvSpPr>
        <p:spPr bwMode="auto">
          <a:xfrm>
            <a:off x="698090" y="1105287"/>
            <a:ext cx="1055329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Rural students have limited access to quality teachers and learning resources.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Traditional teaching methods are less engaging and reduce student interest.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Many e-learning platforms exist but are mainly designed for urban users.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Gamification techniques like points, badges, and quizzes improve learning motivation.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Research shows game-based learning increases knowledge retention.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Very few platforms focus on combining gamification with rural education needs.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Hence, the title </a:t>
            </a:r>
            <a:r>
              <a:rPr kumimoji="0" lang="en-US" altLang="en-US" sz="2000" b="1" i="0" u="none" strike="noStrike" cap="none" normalizeH="0" baseline="0" dirty="0">
                <a:ln>
                  <a:noFill/>
                </a:ln>
                <a:solidFill>
                  <a:schemeClr val="tx1"/>
                </a:solidFill>
                <a:effectLst/>
                <a:latin typeface="Arial" panose="020B0604020202020204" pitchFamily="34" charset="0"/>
              </a:rPr>
              <a:t>“Gamified Learning Platform for Rural Education”</a:t>
            </a:r>
            <a:r>
              <a:rPr kumimoji="0" lang="en-US" altLang="en-US" sz="2000" b="0" i="0" u="none" strike="noStrike" cap="none" normalizeH="0" baseline="0" dirty="0">
                <a:ln>
                  <a:noFill/>
                </a:ln>
                <a:solidFill>
                  <a:schemeClr val="tx1"/>
                </a:solidFill>
                <a:effectLst/>
                <a:latin typeface="Arial" panose="020B0604020202020204" pitchFamily="34" charset="0"/>
              </a:rPr>
              <a:t> was selected.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3941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sz="3200" dirty="0">
                <a:latin typeface="Cambria" panose="02040503050406030204" pitchFamily="18" charset="0"/>
                <a:ea typeface="Cambria" panose="02040503050406030204" pitchFamily="18" charset="0"/>
              </a:rPr>
              <a:t>Analysis of Problem Statement:</a:t>
            </a:r>
          </a:p>
        </p:txBody>
      </p:sp>
      <p:sp>
        <p:nvSpPr>
          <p:cNvPr id="7" name="Rectangle 4">
            <a:extLst>
              <a:ext uri="{FF2B5EF4-FFF2-40B4-BE49-F238E27FC236}">
                <a16:creationId xmlns:a16="http://schemas.microsoft.com/office/drawing/2014/main" id="{AB5F4645-A55C-8342-0A2A-A15F150C9DA7}"/>
              </a:ext>
            </a:extLst>
          </p:cNvPr>
          <p:cNvSpPr>
            <a:spLocks noGrp="1" noChangeArrowheads="1"/>
          </p:cNvSpPr>
          <p:nvPr>
            <p:ph type="body" idx="1"/>
          </p:nvPr>
        </p:nvSpPr>
        <p:spPr bwMode="auto">
          <a:xfrm>
            <a:off x="812800" y="1284245"/>
            <a:ext cx="11481028"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large gap exists between rural and urban education quality.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Students in rural areas have fewer opportunities for interactive learning.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Low interest in studies leads to poor academic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Learning systems available today do not adapt to individual student progress.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Teachers find it difficult to monitor and guide students digitally.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There is a need for a system that encourages continuous learning through activities.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gamified platform can provide structured, engaging, and personalized learning support.</a:t>
            </a: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C8F3-5C0A-6007-CE15-980E93C2956A}"/>
              </a:ext>
            </a:extLst>
          </p:cNvPr>
          <p:cNvSpPr>
            <a:spLocks noGrp="1"/>
          </p:cNvSpPr>
          <p:nvPr>
            <p:ph type="title"/>
          </p:nvPr>
        </p:nvSpPr>
        <p:spPr/>
        <p:txBody>
          <a:bodyPr/>
          <a:lstStyle/>
          <a:p>
            <a:r>
              <a:rPr lang="en-IN" sz="3200" dirty="0">
                <a:latin typeface="Cambria" panose="02040503050406030204" pitchFamily="18" charset="0"/>
                <a:ea typeface="Cambria" panose="02040503050406030204" pitchFamily="18" charset="0"/>
              </a:rPr>
              <a:t>Innovation or Novel Contributions:</a:t>
            </a:r>
          </a:p>
        </p:txBody>
      </p:sp>
      <p:sp>
        <p:nvSpPr>
          <p:cNvPr id="3" name="Rectangle 1">
            <a:extLst>
              <a:ext uri="{FF2B5EF4-FFF2-40B4-BE49-F238E27FC236}">
                <a16:creationId xmlns:a16="http://schemas.microsoft.com/office/drawing/2014/main" id="{CEE189A1-77C4-3ED0-66CA-042A6F45C920}"/>
              </a:ext>
            </a:extLst>
          </p:cNvPr>
          <p:cNvSpPr>
            <a:spLocks noGrp="1" noChangeArrowheads="1"/>
          </p:cNvSpPr>
          <p:nvPr>
            <p:ph type="body" idx="1"/>
          </p:nvPr>
        </p:nvSpPr>
        <p:spPr bwMode="auto">
          <a:xfrm>
            <a:off x="812800" y="1429126"/>
            <a:ext cx="910537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Uses </a:t>
            </a:r>
            <a:r>
              <a:rPr kumimoji="0" lang="en-US" altLang="en-US" b="1" i="0" u="none" strike="noStrike" cap="none" normalizeH="0" baseline="0" dirty="0">
                <a:ln>
                  <a:noFill/>
                </a:ln>
                <a:solidFill>
                  <a:schemeClr val="tx1"/>
                </a:solidFill>
                <a:effectLst/>
                <a:latin typeface="Arial" panose="020B0604020202020204" pitchFamily="34" charset="0"/>
              </a:rPr>
              <a:t>game-based learning</a:t>
            </a:r>
            <a:r>
              <a:rPr kumimoji="0" lang="en-US" altLang="en-US" b="0" i="0" u="none" strike="noStrike" cap="none" normalizeH="0" baseline="0" dirty="0">
                <a:ln>
                  <a:noFill/>
                </a:ln>
                <a:solidFill>
                  <a:schemeClr val="tx1"/>
                </a:solidFill>
                <a:effectLst/>
                <a:latin typeface="Arial" panose="020B0604020202020204" pitchFamily="34" charset="0"/>
              </a:rPr>
              <a:t> instead of traditional online classes.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Provides </a:t>
            </a:r>
            <a:r>
              <a:rPr kumimoji="0" lang="en-US" altLang="en-US" b="1" i="0" u="none" strike="noStrike" cap="none" normalizeH="0" baseline="0" dirty="0">
                <a:ln>
                  <a:noFill/>
                </a:ln>
                <a:solidFill>
                  <a:schemeClr val="tx1"/>
                </a:solidFill>
                <a:effectLst/>
                <a:latin typeface="Arial" panose="020B0604020202020204" pitchFamily="34" charset="0"/>
              </a:rPr>
              <a:t>reward-based education</a:t>
            </a:r>
            <a:r>
              <a:rPr kumimoji="0" lang="en-US" altLang="en-US" b="0" i="0" u="none" strike="noStrike" cap="none" normalizeH="0" baseline="0" dirty="0">
                <a:ln>
                  <a:noFill/>
                </a:ln>
                <a:solidFill>
                  <a:schemeClr val="tx1"/>
                </a:solidFill>
                <a:effectLst/>
                <a:latin typeface="Arial" panose="020B0604020202020204" pitchFamily="34" charset="0"/>
              </a:rPr>
              <a:t> to motivate rural students.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Includes </a:t>
            </a:r>
            <a:r>
              <a:rPr kumimoji="0" lang="en-US" altLang="en-US" b="1" i="0" u="none" strike="noStrike" cap="none" normalizeH="0" baseline="0" dirty="0">
                <a:ln>
                  <a:noFill/>
                </a:ln>
                <a:solidFill>
                  <a:schemeClr val="tx1"/>
                </a:solidFill>
                <a:effectLst/>
                <a:latin typeface="Arial" panose="020B0604020202020204" pitchFamily="34" charset="0"/>
              </a:rPr>
              <a:t>progress tracking and performance analytics.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Designed for </a:t>
            </a:r>
            <a:r>
              <a:rPr kumimoji="0" lang="en-US" altLang="en-US" b="1" i="0" u="none" strike="noStrike" cap="none" normalizeH="0" baseline="0" dirty="0">
                <a:ln>
                  <a:noFill/>
                </a:ln>
                <a:solidFill>
                  <a:schemeClr val="tx1"/>
                </a:solidFill>
                <a:effectLst/>
                <a:latin typeface="Arial" panose="020B0604020202020204" pitchFamily="34" charset="0"/>
              </a:rPr>
              <a:t>low-bandwidth and rural usability.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interactive quizzes, challenges, and leaderboards</a:t>
            </a:r>
          </a:p>
        </p:txBody>
      </p:sp>
    </p:spTree>
    <p:extLst>
      <p:ext uri="{BB962C8B-B14F-4D97-AF65-F5344CB8AC3E}">
        <p14:creationId xmlns:p14="http://schemas.microsoft.com/office/powerpoint/2010/main" val="3839748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 hub Link: </a:t>
            </a:r>
          </a:p>
          <a:p>
            <a:pPr marL="342900" indent="-190500" algn="just">
              <a:spcBef>
                <a:spcPts val="0"/>
              </a:spcBef>
              <a:buSzPct val="100000"/>
              <a:buNone/>
            </a:pPr>
            <a:r>
              <a:rPr lang="en-US" b="1" dirty="0">
                <a:solidFill>
                  <a:schemeClr val="bg2">
                    <a:lumMod val="60000"/>
                    <a:lumOff val="40000"/>
                  </a:schemeClr>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https://github.com/Raksh-itha-v/raksh</a:t>
            </a:r>
            <a:endParaRPr lang="en-US" b="1" dirty="0">
              <a:solidFill>
                <a:schemeClr val="bg2">
                  <a:lumMod val="60000"/>
                  <a:lumOff val="40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solidFill>
                <a:schemeClr val="bg2">
                  <a:lumMod val="60000"/>
                  <a:lumOff val="40000"/>
                </a:schemeClr>
              </a:solidFill>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3200" dirty="0">
                <a:latin typeface="Cambria" panose="02040503050406030204" pitchFamily="18" charset="0"/>
                <a:ea typeface="Cambria" panose="02040503050406030204" pitchFamily="18" charset="0"/>
              </a:rPr>
              <a:t>Timeline of the Project (Gantt Chart)</a:t>
            </a:r>
            <a:endParaRPr sz="32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0CE5DD02-41F6-61C5-28CE-8D482BF91E78}"/>
              </a:ext>
            </a:extLst>
          </p:cNvPr>
          <p:cNvPicPr>
            <a:picLocks noChangeAspect="1"/>
          </p:cNvPicPr>
          <p:nvPr/>
        </p:nvPicPr>
        <p:blipFill>
          <a:blip r:embed="rId3"/>
          <a:stretch>
            <a:fillRect/>
          </a:stretch>
        </p:blipFill>
        <p:spPr>
          <a:xfrm>
            <a:off x="1523991" y="1061888"/>
            <a:ext cx="9144018" cy="495300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sz="3200" dirty="0">
                <a:latin typeface="Cambria" panose="02040503050406030204" pitchFamily="18" charset="0"/>
                <a:ea typeface="Cambria" panose="02040503050406030204" pitchFamily="18" charset="0"/>
              </a:rPr>
              <a:t>References (IEEE Paper format)</a:t>
            </a:r>
            <a:endParaRPr sz="3200"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fontScale="92500"/>
          </a:bodyPr>
          <a:lstStyle/>
          <a:p>
            <a:pPr marL="495300" indent="-342900">
              <a:spcBef>
                <a:spcPts val="0"/>
              </a:spcBef>
            </a:pPr>
            <a:r>
              <a:rPr lang="en-IN" dirty="0">
                <a:hlinkClick r:id="rId3"/>
              </a:rPr>
              <a:t>X. You and M. Sanmugam, “Literature Analysis on the Impact of Gamified Education on Engagement, Motivation, and Learning Outcomes Among Preschool Children in Rural Communities in China,” </a:t>
            </a:r>
            <a:r>
              <a:rPr lang="en-IN" i="1" dirty="0">
                <a:hlinkClick r:id="rId3"/>
              </a:rPr>
              <a:t>JENTIK: </a:t>
            </a:r>
            <a:r>
              <a:rPr lang="en-IN" i="1" dirty="0" err="1">
                <a:hlinkClick r:id="rId3"/>
              </a:rPr>
              <a:t>Jurnal</a:t>
            </a:r>
            <a:r>
              <a:rPr lang="en-IN" i="1" dirty="0">
                <a:hlinkClick r:id="rId3"/>
              </a:rPr>
              <a:t> Pendidikan </a:t>
            </a:r>
            <a:r>
              <a:rPr lang="en-IN" i="1" dirty="0" err="1">
                <a:hlinkClick r:id="rId3"/>
              </a:rPr>
              <a:t>Teknologi</a:t>
            </a:r>
            <a:r>
              <a:rPr lang="en-IN" i="1" dirty="0">
                <a:hlinkClick r:id="rId3"/>
              </a:rPr>
              <a:t> </a:t>
            </a:r>
            <a:r>
              <a:rPr lang="en-IN" i="1" dirty="0" err="1">
                <a:hlinkClick r:id="rId3"/>
              </a:rPr>
              <a:t>Informasi</a:t>
            </a:r>
            <a:r>
              <a:rPr lang="en-IN" i="1" dirty="0">
                <a:hlinkClick r:id="rId3"/>
              </a:rPr>
              <a:t> dan </a:t>
            </a:r>
            <a:r>
              <a:rPr lang="en-IN" i="1" dirty="0" err="1">
                <a:hlinkClick r:id="rId3"/>
              </a:rPr>
              <a:t>Komunikasi</a:t>
            </a:r>
            <a:r>
              <a:rPr lang="en-IN" dirty="0">
                <a:hlinkClick r:id="rId3"/>
              </a:rPr>
              <a:t>, vol. 3, no. 2, pp. 68–79, 2024.</a:t>
            </a:r>
            <a:endParaRPr lang="en-IN" dirty="0">
              <a:hlinkClick r:id="rId3"/>
            </a:endParaRPr>
          </a:p>
          <a:p>
            <a:pPr marL="495300" indent="-342900">
              <a:spcBef>
                <a:spcPts val="0"/>
              </a:spcBef>
            </a:pPr>
            <a:r>
              <a:rPr lang="en-US" dirty="0">
                <a:hlinkClick r:id="rId4"/>
              </a:rPr>
              <a:t>“Gamification in Online Learning: A Systematic Review of Engagement and Learning Outcomes in Digital Education,” ResearchGate, Dec. 2025.</a:t>
            </a:r>
            <a:r>
              <a:rPr lang="en-IN" dirty="0">
                <a:hlinkClick r:id="rId4"/>
              </a:rPr>
              <a:t> </a:t>
            </a:r>
            <a:endParaRPr lang="en-IN" dirty="0"/>
          </a:p>
          <a:p>
            <a:pPr marL="495300" indent="-342900">
              <a:spcBef>
                <a:spcPts val="0"/>
              </a:spcBef>
            </a:pPr>
            <a:r>
              <a:rPr lang="en-US" dirty="0">
                <a:hlinkClick r:id="rId5"/>
              </a:rPr>
              <a:t>S. Hebbar, “Examining Gamification’s Impact on Perceived Satisfaction in E-Learning,” </a:t>
            </a:r>
            <a:r>
              <a:rPr lang="en-US" i="1" dirty="0">
                <a:hlinkClick r:id="rId5"/>
              </a:rPr>
              <a:t>Interactive Learning Environments</a:t>
            </a:r>
            <a:r>
              <a:rPr lang="en-US" dirty="0">
                <a:hlinkClick r:id="rId5"/>
              </a:rPr>
              <a:t>, 2025.</a:t>
            </a:r>
            <a:endParaRPr lang="en-US" dirty="0"/>
          </a:p>
          <a:p>
            <a:pPr marL="495300" indent="-342900">
              <a:spcBef>
                <a:spcPts val="0"/>
              </a:spcBef>
            </a:pPr>
            <a:r>
              <a:rPr lang="en-IN" dirty="0">
                <a:hlinkClick r:id="rId6"/>
              </a:rPr>
              <a:t>R. Soni, D. V. </a:t>
            </a:r>
            <a:r>
              <a:rPr lang="en-IN" dirty="0" err="1">
                <a:hlinkClick r:id="rId6"/>
              </a:rPr>
              <a:t>Abhonkar</a:t>
            </a:r>
            <a:r>
              <a:rPr lang="en-IN" dirty="0">
                <a:hlinkClick r:id="rId6"/>
              </a:rPr>
              <a:t>, N. Dhiman, and N. Gupta, “Impact of Digital Learning Platforms on Student Performance in Rural Areas,” </a:t>
            </a:r>
            <a:r>
              <a:rPr lang="en-IN" i="1" dirty="0">
                <a:hlinkClick r:id="rId6"/>
              </a:rPr>
              <a:t>Int. J. Contemp. Res. </a:t>
            </a:r>
            <a:r>
              <a:rPr lang="en-IN" i="1" dirty="0" err="1">
                <a:hlinkClick r:id="rId6"/>
              </a:rPr>
              <a:t>Multidiscip</a:t>
            </a:r>
            <a:r>
              <a:rPr lang="en-IN" i="1" dirty="0">
                <a:hlinkClick r:id="rId6"/>
              </a:rPr>
              <a:t>.</a:t>
            </a:r>
            <a:r>
              <a:rPr lang="en-IN" dirty="0">
                <a:hlinkClick r:id="rId6"/>
              </a:rPr>
              <a:t>, vol. 4, no. 4, pp. 414–423, 2025.</a:t>
            </a:r>
            <a:endParaRPr lang="en-IN" dirty="0"/>
          </a:p>
          <a:p>
            <a:pPr marL="152400" indent="0">
              <a:spcBef>
                <a:spcPts val="0"/>
              </a:spcBef>
              <a:buNone/>
            </a:pPr>
            <a:endParaRPr lang="en-IN" dirty="0"/>
          </a:p>
          <a:p>
            <a:pPr marL="495300" indent="-342900">
              <a:spcBef>
                <a:spcPts val="0"/>
              </a:spcBef>
            </a:pPr>
            <a:endParaRPr dirty="0">
              <a:latin typeface="+mj-lt"/>
              <a:ea typeface="Cambria" panose="02040503050406030204" pitchFamily="18" charset="0"/>
            </a:endParaRPr>
          </a:p>
        </p:txBody>
      </p:sp>
      <p:sp>
        <p:nvSpPr>
          <p:cNvPr id="5" name="Rectangle 4">
            <a:extLst>
              <a:ext uri="{FF2B5EF4-FFF2-40B4-BE49-F238E27FC236}">
                <a16:creationId xmlns:a16="http://schemas.microsoft.com/office/drawing/2014/main" id="{98A2CC1F-0B71-F199-181D-D14A7ED0F666}"/>
              </a:ext>
            </a:extLst>
          </p:cNvPr>
          <p:cNvSpPr>
            <a:spLocks noChangeArrowheads="1"/>
          </p:cNvSpPr>
          <p:nvPr/>
        </p:nvSpPr>
        <p:spPr bwMode="auto">
          <a:xfrm>
            <a:off x="934065" y="5376983"/>
            <a:ext cx="1094330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hlinkClick r:id="rId7"/>
              </a:rPr>
              <a:t>S. Triantafyllou, “Gamification in Education and Training: A Literature Review,” </a:t>
            </a:r>
            <a:r>
              <a:rPr kumimoji="0" lang="en-US" altLang="en-US" sz="2200" b="0" i="1" u="none" strike="noStrike" cap="none" normalizeH="0" baseline="0" dirty="0">
                <a:ln>
                  <a:noFill/>
                </a:ln>
                <a:solidFill>
                  <a:schemeClr val="tx1"/>
                </a:solidFill>
                <a:effectLst/>
                <a:latin typeface="Arial" panose="020B0604020202020204" pitchFamily="34" charset="0"/>
                <a:hlinkClick r:id="rId7"/>
              </a:rPr>
              <a:t>Int.    J. Educ. Res.</a:t>
            </a:r>
            <a:r>
              <a:rPr kumimoji="0" lang="en-US" altLang="en-US" sz="2200" b="0" i="0" u="none" strike="noStrike" cap="none" normalizeH="0" baseline="0" dirty="0">
                <a:ln>
                  <a:noFill/>
                </a:ln>
                <a:solidFill>
                  <a:schemeClr val="tx1"/>
                </a:solidFill>
                <a:effectLst/>
                <a:latin typeface="Arial" panose="020B0604020202020204" pitchFamily="34" charset="0"/>
                <a:hlinkClick r:id="rId7"/>
              </a:rPr>
              <a:t>, 2025.</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768</Words>
  <Application>Microsoft Office PowerPoint</Application>
  <PresentationFormat>Widescreen</PresentationFormat>
  <Paragraphs>102</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Cambria</vt:lpstr>
      <vt:lpstr>Verdana</vt:lpstr>
      <vt:lpstr>Wingdings</vt:lpstr>
      <vt:lpstr>Bioinformatics</vt:lpstr>
      <vt:lpstr>Gamified Learning Platform for Rural Education</vt:lpstr>
      <vt:lpstr>Contents:</vt:lpstr>
      <vt:lpstr>Problem Statement : </vt:lpstr>
      <vt:lpstr>Objectives:</vt:lpstr>
      <vt:lpstr>Background and Related Work for Title Selection:</vt:lpstr>
      <vt:lpstr>Analysis of Problem Statement:</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varshinipd.1345@gmail.com</cp:lastModifiedBy>
  <cp:revision>48</cp:revision>
  <dcterms:modified xsi:type="dcterms:W3CDTF">2026-01-11T10:31:39Z</dcterms:modified>
</cp:coreProperties>
</file>